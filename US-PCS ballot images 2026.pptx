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8"/>
  </p:notesMasterIdLst>
  <p:sldIdLst>
    <p:sldId id="801" r:id="rId3"/>
    <p:sldId id="258" r:id="rId4"/>
    <p:sldId id="802" r:id="rId5"/>
    <p:sldId id="803" r:id="rId6"/>
    <p:sldId id="804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258"/>
            <p14:sldId id="802"/>
            <p14:sldId id="803"/>
            <p14:sldId id="8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A5CC"/>
    <a:srgbClr val="E86328"/>
    <a:srgbClr val="F7D33E"/>
    <a:srgbClr val="CAD404"/>
    <a:srgbClr val="05953F"/>
    <a:srgbClr val="87C9FB"/>
    <a:srgbClr val="EAD6AC"/>
    <a:srgbClr val="54A831"/>
    <a:srgbClr val="E089FF"/>
    <a:srgbClr val="D35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862" y="11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2026-02-25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subject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Encounters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5483997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7121929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891727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“Must Support”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5483997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7121929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9499CC-BE78-1E7A-88F5-5DDEC1D4834B}"/>
              </a:ext>
            </a:extLst>
          </p:cNvPr>
          <p:cNvSpPr txBox="1"/>
          <p:nvPr/>
        </p:nvSpPr>
        <p:spPr>
          <a:xfrm>
            <a:off x="362272" y="5922150"/>
            <a:ext cx="8419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“Must Support” means systems must be capable to send and receive these sections</a:t>
            </a:r>
          </a:p>
        </p:txBody>
      </p:sp>
      <p:sp>
        <p:nvSpPr>
          <p:cNvPr id="8" name="Forme libre : forme 18">
            <a:extLst>
              <a:ext uri="{FF2B5EF4-FFF2-40B4-BE49-F238E27FC236}">
                <a16:creationId xmlns:a16="http://schemas.microsoft.com/office/drawing/2014/main" id="{72B1E509-5A1B-CDEC-4970-3076FE497037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614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Inherits 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between US Core and IPS Profiles to be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6C45EA6-7E40-6EB5-ABD4-13B9666000F2}"/>
              </a:ext>
            </a:extLst>
          </p:cNvPr>
          <p:cNvSpPr/>
          <p:nvPr/>
        </p:nvSpPr>
        <p:spPr>
          <a:xfrm>
            <a:off x="206505" y="2780928"/>
            <a:ext cx="4158991" cy="3672622"/>
          </a:xfrm>
          <a:prstGeom prst="roundRect">
            <a:avLst>
              <a:gd name="adj" fmla="val 6226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6C2EF-3DB1-9EF8-2696-E6AE6D6E6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450304" y="3701057"/>
            <a:ext cx="839676" cy="922566"/>
          </a:xfrm>
          <a:prstGeom prst="rect">
            <a:avLst/>
          </a:prstGeom>
        </p:spPr>
      </p:pic>
      <p:pic>
        <p:nvPicPr>
          <p:cNvPr id="5" name="Picture 2" descr="logo fhir">
            <a:extLst>
              <a:ext uri="{FF2B5EF4-FFF2-40B4-BE49-F238E27FC236}">
                <a16:creationId xmlns:a16="http://schemas.microsoft.com/office/drawing/2014/main" id="{17ED4006-1704-AC0D-FE69-C8C006E5E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450304" y="3500446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680516-85AC-2877-BCF1-D30FC3832B6D}"/>
              </a:ext>
            </a:extLst>
          </p:cNvPr>
          <p:cNvSpPr txBox="1"/>
          <p:nvPr/>
        </p:nvSpPr>
        <p:spPr>
          <a:xfrm>
            <a:off x="0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goes into a</a:t>
            </a:r>
            <a:br>
              <a:rPr lang="en-US" sz="2400" b="1" dirty="0"/>
            </a:br>
            <a:r>
              <a:rPr lang="en-US" sz="2400" b="1" dirty="0"/>
              <a:t>US-PCS patient summary?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0F6F44-361A-FF12-2270-80FA74827035}"/>
              </a:ext>
            </a:extLst>
          </p:cNvPr>
          <p:cNvSpPr txBox="1"/>
          <p:nvPr/>
        </p:nvSpPr>
        <p:spPr>
          <a:xfrm>
            <a:off x="158635" y="2862913"/>
            <a:ext cx="4185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Summaries Require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86972-71A9-36FF-2D9C-893108288039}"/>
              </a:ext>
            </a:extLst>
          </p:cNvPr>
          <p:cNvSpPr txBox="1"/>
          <p:nvPr/>
        </p:nvSpPr>
        <p:spPr>
          <a:xfrm>
            <a:off x="4571999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capabilities must </a:t>
            </a:r>
            <a:br>
              <a:rPr lang="en-US" sz="2400" b="1" dirty="0"/>
            </a:br>
            <a:r>
              <a:rPr lang="en-US" sz="2400" b="1" dirty="0"/>
              <a:t>US-PCS systems support?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421645-74F6-D240-D3FD-5710A2660E3A}"/>
              </a:ext>
            </a:extLst>
          </p:cNvPr>
          <p:cNvCxnSpPr>
            <a:cxnSpLocks/>
          </p:cNvCxnSpPr>
          <p:nvPr/>
        </p:nvCxnSpPr>
        <p:spPr>
          <a:xfrm>
            <a:off x="4584699" y="1835372"/>
            <a:ext cx="0" cy="5022628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1F5697-C786-0EFC-1BD9-139DC83E7969}"/>
              </a:ext>
            </a:extLst>
          </p:cNvPr>
          <p:cNvSpPr txBox="1"/>
          <p:nvPr/>
        </p:nvSpPr>
        <p:spPr>
          <a:xfrm>
            <a:off x="1485176" y="3314229"/>
            <a:ext cx="27343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Patient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Document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Problems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Allergies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Medications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1120-9C50-AB81-7B83-6BD0BC66F836}"/>
              </a:ext>
            </a:extLst>
          </p:cNvPr>
          <p:cNvSpPr txBox="1"/>
          <p:nvPr/>
        </p:nvSpPr>
        <p:spPr>
          <a:xfrm>
            <a:off x="158635" y="4881718"/>
            <a:ext cx="41854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data may be sent to fulfill the</a:t>
            </a:r>
            <a:br>
              <a:rPr lang="en-US" dirty="0"/>
            </a:br>
            <a:r>
              <a:rPr lang="en-US" dirty="0"/>
              <a:t>use-case of the US-PCS. Summaries </a:t>
            </a:r>
            <a:br>
              <a:rPr lang="en-US" dirty="0"/>
            </a:br>
            <a:r>
              <a:rPr lang="en-US" dirty="0"/>
              <a:t>are </a:t>
            </a:r>
            <a:r>
              <a:rPr lang="en-US" b="1" dirty="0"/>
              <a:t>minimal</a:t>
            </a:r>
            <a:r>
              <a:rPr lang="en-US" dirty="0"/>
              <a:t> and </a:t>
            </a:r>
            <a:r>
              <a:rPr lang="en-US" b="1" dirty="0"/>
              <a:t>non-exhaustive</a:t>
            </a:r>
            <a:r>
              <a:rPr lang="en-US" dirty="0"/>
              <a:t> to support clinical decision-making </a:t>
            </a:r>
            <a:br>
              <a:rPr lang="en-US" dirty="0"/>
            </a:br>
            <a:r>
              <a:rPr lang="en-US" dirty="0"/>
              <a:t>across organizational borders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24B6BA7-5002-B454-4FAA-47549EA44BFD}"/>
              </a:ext>
            </a:extLst>
          </p:cNvPr>
          <p:cNvSpPr/>
          <p:nvPr/>
        </p:nvSpPr>
        <p:spPr>
          <a:xfrm>
            <a:off x="4825298" y="2780928"/>
            <a:ext cx="4112197" cy="3672622"/>
          </a:xfrm>
          <a:prstGeom prst="roundRect">
            <a:avLst>
              <a:gd name="adj" fmla="val 48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3D4DF1-FB70-89A6-D18B-0202C380FC94}"/>
              </a:ext>
            </a:extLst>
          </p:cNvPr>
          <p:cNvSpPr txBox="1"/>
          <p:nvPr/>
        </p:nvSpPr>
        <p:spPr>
          <a:xfrm>
            <a:off x="5688920" y="2862913"/>
            <a:ext cx="2586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u="sng" dirty="0">
                <a:solidFill>
                  <a:schemeClr val="tx2"/>
                </a:solidFill>
              </a:rPr>
              <a:t>Systems Must Support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14D61-942A-01EC-A9F7-C8D0C50C4D75}"/>
              </a:ext>
            </a:extLst>
          </p:cNvPr>
          <p:cNvSpPr txBox="1"/>
          <p:nvPr/>
        </p:nvSpPr>
        <p:spPr>
          <a:xfrm>
            <a:off x="4934274" y="3243349"/>
            <a:ext cx="4011088" cy="3247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US-PCS Bundle &amp; Composition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 Core (6.1.0 or higher)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Patient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Organization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Practitioner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Section Clinical Resources</a:t>
            </a:r>
            <a:br>
              <a:rPr lang="en-US" dirty="0"/>
            </a:br>
            <a:endParaRPr lang="en-US" sz="200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Seven Sections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endParaRPr lang="en-US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The IPS $summary operation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BD516-CDD5-3B12-FEC9-011DBF34E178}"/>
              </a:ext>
            </a:extLst>
          </p:cNvPr>
          <p:cNvSpPr txBox="1"/>
          <p:nvPr/>
        </p:nvSpPr>
        <p:spPr>
          <a:xfrm>
            <a:off x="5204806" y="5139327"/>
            <a:ext cx="1920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4163" indent="-284163">
              <a:buFont typeface="+mj-lt"/>
              <a:buAutoNum type="arabicPeriod"/>
            </a:pPr>
            <a:r>
              <a:rPr lang="en-US" dirty="0"/>
              <a:t>Problems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Allergies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Medications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1696A9-C897-1AE7-F0AA-3B8D5CC1BA05}"/>
              </a:ext>
            </a:extLst>
          </p:cNvPr>
          <p:cNvSpPr txBox="1"/>
          <p:nvPr/>
        </p:nvSpPr>
        <p:spPr>
          <a:xfrm>
            <a:off x="6914304" y="4862328"/>
            <a:ext cx="20231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+mj-lt"/>
              <a:buAutoNum type="arabicPeriod" startAt="4"/>
            </a:pPr>
            <a:r>
              <a:rPr lang="en-US" dirty="0"/>
              <a:t>Encounters</a:t>
            </a:r>
          </a:p>
          <a:p>
            <a:pPr marL="285750" indent="-285750">
              <a:buFont typeface="+mj-lt"/>
              <a:buAutoNum type="arabicPeriod" startAt="4"/>
            </a:pPr>
            <a:r>
              <a:rPr lang="en-US" dirty="0"/>
              <a:t>Immunizations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Procedures 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Results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F76489-AC6A-D4E3-2550-970E38CA02C9}"/>
              </a:ext>
            </a:extLst>
          </p:cNvPr>
          <p:cNvSpPr txBox="1"/>
          <p:nvPr/>
        </p:nvSpPr>
        <p:spPr>
          <a:xfrm>
            <a:off x="493677" y="1194114"/>
            <a:ext cx="237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Business </a:t>
            </a:r>
            <a:b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Principles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8EDF34-AEFD-2B83-B3AA-D12A935EF18D}"/>
              </a:ext>
            </a:extLst>
          </p:cNvPr>
          <p:cNvSpPr txBox="1"/>
          <p:nvPr/>
        </p:nvSpPr>
        <p:spPr>
          <a:xfrm>
            <a:off x="7028375" y="1194114"/>
            <a:ext cx="1416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Technical </a:t>
            </a:r>
            <a:br>
              <a:rPr lang="en-US" i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Capability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59710-C4CA-B6B6-E79D-46BE56C1AE1C}"/>
              </a:ext>
            </a:extLst>
          </p:cNvPr>
          <p:cNvSpPr txBox="1"/>
          <p:nvPr/>
        </p:nvSpPr>
        <p:spPr>
          <a:xfrm>
            <a:off x="2555776" y="43146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The “US-PCS”</a:t>
            </a:r>
            <a:endParaRPr lang="en-US" dirty="0"/>
          </a:p>
        </p:txBody>
      </p:sp>
      <p:sp>
        <p:nvSpPr>
          <p:cNvPr id="29" name="Arrow: Bent 28">
            <a:extLst>
              <a:ext uri="{FF2B5EF4-FFF2-40B4-BE49-F238E27FC236}">
                <a16:creationId xmlns:a16="http://schemas.microsoft.com/office/drawing/2014/main" id="{7169D460-E512-56FB-0D57-9524721F5688}"/>
              </a:ext>
            </a:extLst>
          </p:cNvPr>
          <p:cNvSpPr/>
          <p:nvPr/>
        </p:nvSpPr>
        <p:spPr>
          <a:xfrm rot="5400000">
            <a:off x="6256940" y="835849"/>
            <a:ext cx="1008111" cy="774912"/>
          </a:xfrm>
          <a:prstGeom prst="ben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Bent 29">
            <a:extLst>
              <a:ext uri="{FF2B5EF4-FFF2-40B4-BE49-F238E27FC236}">
                <a16:creationId xmlns:a16="http://schemas.microsoft.com/office/drawing/2014/main" id="{E7A9F9D2-6155-7BB1-A393-1A01AD09292E}"/>
              </a:ext>
            </a:extLst>
          </p:cNvPr>
          <p:cNvSpPr/>
          <p:nvPr/>
        </p:nvSpPr>
        <p:spPr>
          <a:xfrm rot="5400000" flipV="1">
            <a:off x="1584003" y="846187"/>
            <a:ext cx="1008111" cy="754236"/>
          </a:xfrm>
          <a:prstGeom prst="bentArrow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66716741-6FE0-11F8-A485-D21578EF6864}"/>
              </a:ext>
            </a:extLst>
          </p:cNvPr>
          <p:cNvSpPr/>
          <p:nvPr/>
        </p:nvSpPr>
        <p:spPr>
          <a:xfrm>
            <a:off x="8045463" y="4225524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29431E6E-6E1A-56A0-B20F-F053AB101DDA}"/>
              </a:ext>
            </a:extLst>
          </p:cNvPr>
          <p:cNvSpPr/>
          <p:nvPr/>
        </p:nvSpPr>
        <p:spPr>
          <a:xfrm>
            <a:off x="8045463" y="4006077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B2FD8B3C-3107-A405-6865-9B770FD85B51}"/>
              </a:ext>
            </a:extLst>
          </p:cNvPr>
          <p:cNvSpPr/>
          <p:nvPr/>
        </p:nvSpPr>
        <p:spPr>
          <a:xfrm>
            <a:off x="8045463" y="3786629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8" name="Picture 2" descr="logo fhir">
            <a:extLst>
              <a:ext uri="{FF2B5EF4-FFF2-40B4-BE49-F238E27FC236}">
                <a16:creationId xmlns:a16="http://schemas.microsoft.com/office/drawing/2014/main" id="{3148ACF8-DD03-E429-47DC-74E3125CB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8534139" y="3493358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4893193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63399</TotalTime>
  <Words>318</Words>
  <Application>Microsoft Office PowerPoint</Application>
  <PresentationFormat>On-screen Show (4:3)</PresentationFormat>
  <Paragraphs>96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The IPS Composition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2011</cp:revision>
  <dcterms:created xsi:type="dcterms:W3CDTF">2012-12-03T20:41:34Z</dcterms:created>
  <dcterms:modified xsi:type="dcterms:W3CDTF">2026-02-25T22:11:19Z</dcterms:modified>
</cp:coreProperties>
</file>