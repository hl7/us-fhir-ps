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11"/>
  </p:notesMasterIdLst>
  <p:sldIdLst>
    <p:sldId id="801" r:id="rId3"/>
    <p:sldId id="806" r:id="rId4"/>
    <p:sldId id="807" r:id="rId5"/>
    <p:sldId id="805" r:id="rId6"/>
    <p:sldId id="258" r:id="rId7"/>
    <p:sldId id="802" r:id="rId8"/>
    <p:sldId id="803" r:id="rId9"/>
    <p:sldId id="804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806"/>
            <p14:sldId id="807"/>
            <p14:sldId id="805"/>
            <p14:sldId id="258"/>
            <p14:sldId id="802"/>
            <p14:sldId id="803"/>
            <p14:sldId id="8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7C9FB"/>
    <a:srgbClr val="F3E6CD"/>
    <a:srgbClr val="E1C387"/>
    <a:srgbClr val="AE832C"/>
    <a:srgbClr val="FF9875"/>
    <a:srgbClr val="EAD6AC"/>
    <a:srgbClr val="54A831"/>
    <a:srgbClr val="E86328"/>
    <a:srgbClr val="CAD404"/>
    <a:srgbClr val="F7D3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18" autoAdjust="0"/>
    <p:restoredTop sz="89677" autoAdjust="0"/>
  </p:normalViewPr>
  <p:slideViewPr>
    <p:cSldViewPr>
      <p:cViewPr>
        <p:scale>
          <a:sx n="125" d="100"/>
          <a:sy n="125" d="100"/>
        </p:scale>
        <p:origin x="2370" y="318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2026-03-19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6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554427-701E-FA52-56A1-9B2A5AAA4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2</a:t>
            </a:fld>
            <a:endParaRPr lang="en-CA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B63BF7D-8B95-FC49-F010-3CB23B3B656A}"/>
              </a:ext>
            </a:extLst>
          </p:cNvPr>
          <p:cNvGrpSpPr/>
          <p:nvPr/>
        </p:nvGrpSpPr>
        <p:grpSpPr>
          <a:xfrm>
            <a:off x="2038464" y="1159868"/>
            <a:ext cx="6439800" cy="5634215"/>
            <a:chOff x="2038464" y="1159868"/>
            <a:chExt cx="6439800" cy="563421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9C1ACDB-8FD1-F8F0-064C-22F24A5CA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38464" y="5117449"/>
              <a:ext cx="6439799" cy="1676634"/>
            </a:xfrm>
            <a:prstGeom prst="rect">
              <a:avLst/>
            </a:prstGeom>
          </p:spPr>
        </p:pic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486077C-723E-F159-7EC3-37A83B6744CA}"/>
                </a:ext>
              </a:extLst>
            </p:cNvPr>
            <p:cNvSpPr/>
            <p:nvPr/>
          </p:nvSpPr>
          <p:spPr bwMode="auto">
            <a:xfrm rot="1533085">
              <a:off x="2176983" y="5362567"/>
              <a:ext cx="1095367" cy="144017"/>
            </a:xfrm>
            <a:prstGeom prst="rect">
              <a:avLst/>
            </a:prstGeom>
            <a:gradFill flip="none" rotWithShape="1">
              <a:gsLst>
                <a:gs pos="32500">
                  <a:srgbClr val="E1C387"/>
                </a:gs>
                <a:gs pos="0">
                  <a:srgbClr val="F3E6CD"/>
                </a:gs>
                <a:gs pos="65000">
                  <a:srgbClr val="AE832C"/>
                </a:gs>
                <a:gs pos="100000">
                  <a:srgbClr val="F3E6CD"/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ABE7EA1B-7863-A85F-8F1C-D6DF74D6000B}"/>
                </a:ext>
              </a:extLst>
            </p:cNvPr>
            <p:cNvSpPr/>
            <p:nvPr/>
          </p:nvSpPr>
          <p:spPr bwMode="auto">
            <a:xfrm>
              <a:off x="3367278" y="4723786"/>
              <a:ext cx="5110986" cy="577421"/>
            </a:xfrm>
            <a:prstGeom prst="homePlate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800100" indent="114300" eaLnBrk="0" fontAlgn="base" hangingPunct="0">
                <a:spcBef>
                  <a:spcPct val="0"/>
                </a:spcBef>
                <a:spcAft>
                  <a:spcPct val="0"/>
                </a:spcAft>
                <a:tabLst>
                  <a:tab pos="857250" algn="l"/>
                </a:tabLs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1" name="Arrow: Pentagon 20">
              <a:extLst>
                <a:ext uri="{FF2B5EF4-FFF2-40B4-BE49-F238E27FC236}">
                  <a16:creationId xmlns:a16="http://schemas.microsoft.com/office/drawing/2014/main" id="{5B3517DF-DBA2-06E6-23AC-099B613B1191}"/>
                </a:ext>
              </a:extLst>
            </p:cNvPr>
            <p:cNvSpPr/>
            <p:nvPr/>
          </p:nvSpPr>
          <p:spPr bwMode="auto">
            <a:xfrm>
              <a:off x="3462810" y="4149935"/>
              <a:ext cx="5015454" cy="577421"/>
            </a:xfrm>
            <a:prstGeom prst="homePlate">
              <a:avLst/>
            </a:prstGeom>
            <a:solidFill>
              <a:srgbClr val="E86328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001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2" name="Arrow: Pentagon 21">
              <a:extLst>
                <a:ext uri="{FF2B5EF4-FFF2-40B4-BE49-F238E27FC236}">
                  <a16:creationId xmlns:a16="http://schemas.microsoft.com/office/drawing/2014/main" id="{B988A241-5748-E42E-C3DD-BFB446C97C35}"/>
                </a:ext>
              </a:extLst>
            </p:cNvPr>
            <p:cNvSpPr/>
            <p:nvPr/>
          </p:nvSpPr>
          <p:spPr bwMode="auto">
            <a:xfrm>
              <a:off x="3462810" y="3573293"/>
              <a:ext cx="5015454" cy="577421"/>
            </a:xfrm>
            <a:prstGeom prst="homePlate">
              <a:avLst/>
            </a:prstGeom>
            <a:solidFill>
              <a:srgbClr val="F7D33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572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E86328"/>
                  </a:solidFill>
                  <a:latin typeface="Aptos" panose="020B0004020202020204" pitchFamily="34" charset="0"/>
                </a:rPr>
                <a:t>Results</a:t>
              </a: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D47DE90E-E879-7C15-FC17-5F156C9D967A}"/>
                </a:ext>
              </a:extLst>
            </p:cNvPr>
            <p:cNvSpPr/>
            <p:nvPr/>
          </p:nvSpPr>
          <p:spPr bwMode="auto">
            <a:xfrm>
              <a:off x="3462809" y="2998077"/>
              <a:ext cx="5015454" cy="577421"/>
            </a:xfrm>
            <a:prstGeom prst="homePlate">
              <a:avLst/>
            </a:prstGeom>
            <a:solidFill>
              <a:srgbClr val="CAD40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8572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54A831"/>
                  </a:solidFill>
                  <a:latin typeface="Aptos" panose="020B0004020202020204" pitchFamily="34" charset="0"/>
                </a:rPr>
                <a:t>Immunizations</a:t>
              </a:r>
            </a:p>
          </p:txBody>
        </p:sp>
        <p:sp>
          <p:nvSpPr>
            <p:cNvPr id="24" name="Arrow: Pentagon 23">
              <a:extLst>
                <a:ext uri="{FF2B5EF4-FFF2-40B4-BE49-F238E27FC236}">
                  <a16:creationId xmlns:a16="http://schemas.microsoft.com/office/drawing/2014/main" id="{2C55BE85-58AB-3B42-D9BD-2E11BEAF0D0F}"/>
                </a:ext>
              </a:extLst>
            </p:cNvPr>
            <p:cNvSpPr/>
            <p:nvPr/>
          </p:nvSpPr>
          <p:spPr bwMode="auto">
            <a:xfrm>
              <a:off x="3635896" y="2419554"/>
              <a:ext cx="4842368" cy="577421"/>
            </a:xfrm>
            <a:prstGeom prst="homePlate">
              <a:avLst/>
            </a:prstGeom>
            <a:solidFill>
              <a:srgbClr val="54A83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6858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6" name="Arrow: Pentagon 25">
              <a:extLst>
                <a:ext uri="{FF2B5EF4-FFF2-40B4-BE49-F238E27FC236}">
                  <a16:creationId xmlns:a16="http://schemas.microsoft.com/office/drawing/2014/main" id="{33C21BAD-CB12-70DD-E575-061C098AE2EF}"/>
                </a:ext>
              </a:extLst>
            </p:cNvPr>
            <p:cNvSpPr/>
            <p:nvPr/>
          </p:nvSpPr>
          <p:spPr bwMode="auto">
            <a:xfrm>
              <a:off x="3851242" y="1273480"/>
              <a:ext cx="4627021" cy="577421"/>
            </a:xfrm>
            <a:prstGeom prst="homePlate">
              <a:avLst/>
            </a:prstGeom>
            <a:solidFill>
              <a:srgbClr val="7030A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572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2800" b="1" dirty="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A7F87A-463B-B53E-118A-BBB71382FD44}"/>
                </a:ext>
              </a:extLst>
            </p:cNvPr>
            <p:cNvSpPr txBox="1"/>
            <p:nvPr/>
          </p:nvSpPr>
          <p:spPr>
            <a:xfrm>
              <a:off x="4317285" y="1307344"/>
              <a:ext cx="175445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Problems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B87A014-7BDF-3F0F-907C-FC53E64E6E96}"/>
                </a:ext>
              </a:extLst>
            </p:cNvPr>
            <p:cNvSpPr txBox="1"/>
            <p:nvPr/>
          </p:nvSpPr>
          <p:spPr>
            <a:xfrm>
              <a:off x="4317285" y="2469371"/>
              <a:ext cx="227453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Medications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B83632F-92AC-A135-87F7-B5E6CACD36B2}"/>
                </a:ext>
              </a:extLst>
            </p:cNvPr>
            <p:cNvSpPr txBox="1"/>
            <p:nvPr/>
          </p:nvSpPr>
          <p:spPr>
            <a:xfrm>
              <a:off x="4317285" y="4196845"/>
              <a:ext cx="20646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Procedures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83CB2A-890A-668A-8B55-08F26CA0E982}"/>
                </a:ext>
              </a:extLst>
            </p:cNvPr>
            <p:cNvSpPr txBox="1"/>
            <p:nvPr/>
          </p:nvSpPr>
          <p:spPr>
            <a:xfrm>
              <a:off x="4317285" y="4739086"/>
              <a:ext cx="21334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  <a:latin typeface="Aptos" panose="020B0004020202020204" pitchFamily="34" charset="0"/>
                </a:rPr>
                <a:t>Encounters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2F7958F-C8BE-2EDD-C277-EF681A5E8B47}"/>
                </a:ext>
              </a:extLst>
            </p:cNvPr>
            <p:cNvSpPr/>
            <p:nvPr/>
          </p:nvSpPr>
          <p:spPr bwMode="auto">
            <a:xfrm rot="1387559">
              <a:off x="3723776" y="1336957"/>
              <a:ext cx="459856" cy="573573"/>
            </a:xfrm>
            <a:prstGeom prst="rect">
              <a:avLst/>
            </a:prstGeom>
            <a:solidFill>
              <a:srgbClr val="7030A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sz="3200">
                <a:solidFill>
                  <a:schemeClr val="bg1"/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25" name="Arrow: Pentagon 24">
              <a:extLst>
                <a:ext uri="{FF2B5EF4-FFF2-40B4-BE49-F238E27FC236}">
                  <a16:creationId xmlns:a16="http://schemas.microsoft.com/office/drawing/2014/main" id="{D33E52DB-2C2F-8ED6-5739-382D8780D7E5}"/>
                </a:ext>
              </a:extLst>
            </p:cNvPr>
            <p:cNvSpPr/>
            <p:nvPr/>
          </p:nvSpPr>
          <p:spPr bwMode="auto">
            <a:xfrm>
              <a:off x="3686710" y="1846517"/>
              <a:ext cx="4791553" cy="577421"/>
            </a:xfrm>
            <a:prstGeom prst="homePlate">
              <a:avLst/>
            </a:prstGeom>
            <a:solidFill>
              <a:srgbClr val="87C9FB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62865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sz="2800" b="1" dirty="0">
                  <a:solidFill>
                    <a:srgbClr val="7030A0"/>
                  </a:solidFill>
                  <a:latin typeface="Aptos" panose="020B0004020202020204" pitchFamily="34" charset="0"/>
                </a:rPr>
                <a:t>Allergies / Intolerances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716CC92-BD05-8DA2-6719-F018AF8504C6}"/>
                </a:ext>
              </a:extLst>
            </p:cNvPr>
            <p:cNvGrpSpPr/>
            <p:nvPr/>
          </p:nvGrpSpPr>
          <p:grpSpPr>
            <a:xfrm>
              <a:off x="2997976" y="1159868"/>
              <a:ext cx="422181" cy="4591612"/>
              <a:chOff x="2997976" y="1159868"/>
              <a:chExt cx="422181" cy="459161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782EA5FF-7F5C-D99C-B9B3-FD809BF86221}"/>
                  </a:ext>
                </a:extLst>
              </p:cNvPr>
              <p:cNvSpPr/>
              <p:nvPr/>
            </p:nvSpPr>
            <p:spPr bwMode="auto">
              <a:xfrm rot="17559388">
                <a:off x="2809983" y="5141307"/>
                <a:ext cx="1057843" cy="162504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endParaRPr>
              </a:p>
            </p:txBody>
          </p:sp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F7946ED0-23B1-B36E-9C13-CC338B2F54FB}"/>
                  </a:ext>
                </a:extLst>
              </p:cNvPr>
              <p:cNvSpPr/>
              <p:nvPr/>
            </p:nvSpPr>
            <p:spPr bwMode="auto">
              <a:xfrm rot="17559388">
                <a:off x="2531189" y="4890955"/>
                <a:ext cx="1478280" cy="162504"/>
              </a:xfrm>
              <a:prstGeom prst="roundRect">
                <a:avLst>
                  <a:gd name="adj" fmla="val 50000"/>
                </a:avLst>
              </a:prstGeom>
              <a:solidFill>
                <a:srgbClr val="E86328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F416E9FF-91D3-A2FA-FA4D-7A11912BA804}"/>
                  </a:ext>
                </a:extLst>
              </p:cNvPr>
              <p:cNvSpPr/>
              <p:nvPr/>
            </p:nvSpPr>
            <p:spPr bwMode="auto">
              <a:xfrm rot="17559388">
                <a:off x="2191074" y="4532279"/>
                <a:ext cx="2111117" cy="162504"/>
              </a:xfrm>
              <a:prstGeom prst="roundRect">
                <a:avLst>
                  <a:gd name="adj" fmla="val 50000"/>
                </a:avLst>
              </a:prstGeom>
              <a:solidFill>
                <a:srgbClr val="F7D33E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1600D0F9-1B84-54FD-028B-DA8AFF6BB6B4}"/>
                  </a:ext>
                </a:extLst>
              </p:cNvPr>
              <p:cNvSpPr/>
              <p:nvPr/>
            </p:nvSpPr>
            <p:spPr bwMode="auto">
              <a:xfrm rot="17559388">
                <a:off x="1868635" y="4208078"/>
                <a:ext cx="2676120" cy="162504"/>
              </a:xfrm>
              <a:prstGeom prst="roundRect">
                <a:avLst>
                  <a:gd name="adj" fmla="val 50000"/>
                </a:avLst>
              </a:prstGeom>
              <a:solidFill>
                <a:srgbClr val="CAD40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D5252B57-C88C-842A-415B-30A73034551A}"/>
                  </a:ext>
                </a:extLst>
              </p:cNvPr>
              <p:cNvSpPr/>
              <p:nvPr/>
            </p:nvSpPr>
            <p:spPr bwMode="auto">
              <a:xfrm rot="17559388">
                <a:off x="1550830" y="3891230"/>
                <a:ext cx="3223466" cy="162504"/>
              </a:xfrm>
              <a:prstGeom prst="roundRect">
                <a:avLst>
                  <a:gd name="adj" fmla="val 50000"/>
                </a:avLst>
              </a:prstGeom>
              <a:solidFill>
                <a:srgbClr val="54A83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66193A0A-53CB-3B50-D1A3-0340FA3B1136}"/>
                  </a:ext>
                </a:extLst>
              </p:cNvPr>
              <p:cNvSpPr/>
              <p:nvPr/>
            </p:nvSpPr>
            <p:spPr bwMode="auto">
              <a:xfrm rot="17559388">
                <a:off x="1210525" y="3547350"/>
                <a:ext cx="3843158" cy="162504"/>
              </a:xfrm>
              <a:prstGeom prst="roundRect">
                <a:avLst>
                  <a:gd name="adj" fmla="val 50000"/>
                </a:avLst>
              </a:prstGeom>
              <a:solidFill>
                <a:srgbClr val="87C9FB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49BFA074-1FB6-4F27-A377-622D4E1A36CA}"/>
                  </a:ext>
                </a:extLst>
              </p:cNvPr>
              <p:cNvSpPr/>
              <p:nvPr/>
            </p:nvSpPr>
            <p:spPr bwMode="auto">
              <a:xfrm rot="17559388">
                <a:off x="909418" y="3248426"/>
                <a:ext cx="4339619" cy="162504"/>
              </a:xfrm>
              <a:prstGeom prst="roundRect">
                <a:avLst>
                  <a:gd name="adj" fmla="val 50000"/>
                </a:avLst>
              </a:prstGeom>
              <a:solidFill>
                <a:srgbClr val="7030A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200" b="0" i="0" u="none" strike="noStrike" cap="none" normalizeH="0" baseline="0">
                  <a:ln>
                    <a:noFill/>
                  </a:ln>
                  <a:solidFill>
                    <a:schemeClr val="bg1"/>
                  </a:solidFill>
                  <a:effectLst/>
                  <a:latin typeface="Aptos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37337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DF1DB27-939A-CC5D-0302-A5C583118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270" y="259705"/>
            <a:ext cx="3470619" cy="299123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E1E218-6DD4-FC45-6827-1F4ED02E9F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C3E5C4-3E2B-40F1-9F2B-C46CEB0C88DF}" type="slidenum">
              <a:rPr lang="en-CA" smtClean="0"/>
              <a:pPr/>
              <a:t>3</a:t>
            </a:fld>
            <a:endParaRPr lang="en-CA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EA9A628B-7967-0BC8-CD0C-19B11600852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486815-229A-4EC5-0B0A-BF84E9D7C22B}"/>
              </a:ext>
            </a:extLst>
          </p:cNvPr>
          <p:cNvSpPr/>
          <p:nvPr/>
        </p:nvSpPr>
        <p:spPr bwMode="auto">
          <a:xfrm>
            <a:off x="683568" y="3933056"/>
            <a:ext cx="7848872" cy="1904164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FA8CC-426F-ADCA-697F-CB233B5327DC}"/>
              </a:ext>
            </a:extLst>
          </p:cNvPr>
          <p:cNvSpPr txBox="1"/>
          <p:nvPr/>
        </p:nvSpPr>
        <p:spPr>
          <a:xfrm>
            <a:off x="683569" y="3949192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B52AC63-B7A5-EFC3-5AC1-0C45ADB2352C}"/>
              </a:ext>
            </a:extLst>
          </p:cNvPr>
          <p:cNvCxnSpPr>
            <a:cxnSpLocks/>
            <a:stCxn id="8" idx="2"/>
            <a:endCxn id="5" idx="0"/>
          </p:cNvCxnSpPr>
          <p:nvPr/>
        </p:nvCxnSpPr>
        <p:spPr bwMode="auto">
          <a:xfrm rot="5400000">
            <a:off x="4878883" y="3077832"/>
            <a:ext cx="584345" cy="1126102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DD1174-A3B8-A695-1197-F68814A9AB78}"/>
              </a:ext>
            </a:extLst>
          </p:cNvPr>
          <p:cNvSpPr/>
          <p:nvPr/>
        </p:nvSpPr>
        <p:spPr bwMode="auto">
          <a:xfrm>
            <a:off x="3796706" y="116632"/>
            <a:ext cx="3874799" cy="3232079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662DE05-FAFE-7788-D396-191BCFF09398}"/>
              </a:ext>
            </a:extLst>
          </p:cNvPr>
          <p:cNvSpPr/>
          <p:nvPr/>
        </p:nvSpPr>
        <p:spPr bwMode="auto">
          <a:xfrm>
            <a:off x="5527070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E83209D-066F-B14A-6B42-B618BAB91370}"/>
              </a:ext>
            </a:extLst>
          </p:cNvPr>
          <p:cNvSpPr/>
          <p:nvPr/>
        </p:nvSpPr>
        <p:spPr bwMode="auto">
          <a:xfrm>
            <a:off x="458453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AA4BF78-B642-3FFC-5EAC-AF744A5E62B0}"/>
              </a:ext>
            </a:extLst>
          </p:cNvPr>
          <p:cNvSpPr/>
          <p:nvPr/>
        </p:nvSpPr>
        <p:spPr bwMode="auto">
          <a:xfrm>
            <a:off x="364200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2F332F6-8C71-99A0-E885-17ED5602BE1B}"/>
              </a:ext>
            </a:extLst>
          </p:cNvPr>
          <p:cNvSpPr/>
          <p:nvPr/>
        </p:nvSpPr>
        <p:spPr bwMode="auto">
          <a:xfrm>
            <a:off x="2699478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F6042C-3073-CADF-6EAA-8A51C20752BB}"/>
              </a:ext>
            </a:extLst>
          </p:cNvPr>
          <p:cNvSpPr/>
          <p:nvPr/>
        </p:nvSpPr>
        <p:spPr bwMode="auto">
          <a:xfrm>
            <a:off x="1756948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2230B9-7344-5662-FA05-1DAF22E09F1C}"/>
              </a:ext>
            </a:extLst>
          </p:cNvPr>
          <p:cNvSpPr/>
          <p:nvPr/>
        </p:nvSpPr>
        <p:spPr bwMode="auto">
          <a:xfrm>
            <a:off x="814417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DA91108-D75E-5526-AA91-50172A4A30CC}"/>
              </a:ext>
            </a:extLst>
          </p:cNvPr>
          <p:cNvSpPr/>
          <p:nvPr/>
        </p:nvSpPr>
        <p:spPr bwMode="auto">
          <a:xfrm>
            <a:off x="7406629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49516B-5171-95B9-4802-70BDECA7BB1A}"/>
              </a:ext>
            </a:extLst>
          </p:cNvPr>
          <p:cNvSpPr txBox="1"/>
          <p:nvPr/>
        </p:nvSpPr>
        <p:spPr>
          <a:xfrm>
            <a:off x="1923133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CAA3A-E678-76D4-D4D7-AB8203346864}"/>
              </a:ext>
            </a:extLst>
          </p:cNvPr>
          <p:cNvSpPr txBox="1"/>
          <p:nvPr/>
        </p:nvSpPr>
        <p:spPr>
          <a:xfrm>
            <a:off x="956250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D6D3AA-19C8-5467-EDB2-82C17007007A}"/>
              </a:ext>
            </a:extLst>
          </p:cNvPr>
          <p:cNvSpPr txBox="1"/>
          <p:nvPr/>
        </p:nvSpPr>
        <p:spPr>
          <a:xfrm>
            <a:off x="2855428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49FD22-2BCD-2135-ACF7-7889DA0582A0}"/>
              </a:ext>
            </a:extLst>
          </p:cNvPr>
          <p:cNvSpPr txBox="1"/>
          <p:nvPr/>
        </p:nvSpPr>
        <p:spPr>
          <a:xfrm>
            <a:off x="3781380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spc="-10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884DFF-1E26-0D90-5C1B-A563FBBE670C}"/>
              </a:ext>
            </a:extLst>
          </p:cNvPr>
          <p:cNvSpPr txBox="1"/>
          <p:nvPr/>
        </p:nvSpPr>
        <p:spPr>
          <a:xfrm>
            <a:off x="4717094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3EB1F-C910-2671-F7F4-EBB2F351A249}"/>
              </a:ext>
            </a:extLst>
          </p:cNvPr>
          <p:cNvSpPr txBox="1"/>
          <p:nvPr/>
        </p:nvSpPr>
        <p:spPr>
          <a:xfrm>
            <a:off x="5668048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0C105-88D4-7803-D546-255AFD78D678}"/>
              </a:ext>
            </a:extLst>
          </p:cNvPr>
          <p:cNvSpPr txBox="1"/>
          <p:nvPr/>
        </p:nvSpPr>
        <p:spPr>
          <a:xfrm>
            <a:off x="7562539" y="5013176"/>
            <a:ext cx="588597" cy="3738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23" name="Picture 22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4DA76DF2-CF62-3C2B-58B1-00E7F990FB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0812" y="4633208"/>
            <a:ext cx="528938" cy="528939"/>
          </a:xfrm>
          <a:prstGeom prst="rect">
            <a:avLst/>
          </a:prstGeom>
        </p:spPr>
      </p:pic>
      <p:pic>
        <p:nvPicPr>
          <p:cNvPr id="24" name="Picture 23" descr="A stethoscope with a cord&#10;&#10;Description automatically generated">
            <a:extLst>
              <a:ext uri="{FF2B5EF4-FFF2-40B4-BE49-F238E27FC236}">
                <a16:creationId xmlns:a16="http://schemas.microsoft.com/office/drawing/2014/main" id="{61D6E378-258E-49E3-63A4-8A44673833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049" y="4642105"/>
            <a:ext cx="528938" cy="528939"/>
          </a:xfrm>
          <a:prstGeom prst="rect">
            <a:avLst/>
          </a:prstGeom>
        </p:spPr>
      </p:pic>
      <p:pic>
        <p:nvPicPr>
          <p:cNvPr id="25" name="Picture 24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7E3D8486-3023-670D-DDC8-9A4057131D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751" y="4620611"/>
            <a:ext cx="528938" cy="528939"/>
          </a:xfrm>
          <a:prstGeom prst="rect">
            <a:avLst/>
          </a:prstGeom>
        </p:spPr>
      </p:pic>
      <p:pic>
        <p:nvPicPr>
          <p:cNvPr id="26" name="Picture 25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38DDCEC0-0195-66C0-7A8D-6E0844E308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425" y="4642104"/>
            <a:ext cx="528938" cy="528939"/>
          </a:xfrm>
          <a:prstGeom prst="rect">
            <a:avLst/>
          </a:prstGeom>
        </p:spPr>
      </p:pic>
      <p:pic>
        <p:nvPicPr>
          <p:cNvPr id="27" name="Picture 26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B59DEE94-668E-D79B-19DE-442B2184D3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0468" y="4637230"/>
            <a:ext cx="528938" cy="528939"/>
          </a:xfrm>
          <a:prstGeom prst="rect">
            <a:avLst/>
          </a:prstGeom>
        </p:spPr>
      </p:pic>
      <p:pic>
        <p:nvPicPr>
          <p:cNvPr id="28" name="Picture 27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7106C2E8-93C0-3D9E-0EF0-A32A0BBBDD8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2548" y="4616475"/>
            <a:ext cx="373854" cy="37385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A505F7-93EE-5482-6317-CBEEFE33328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1952172" y="4642104"/>
            <a:ext cx="526591" cy="52406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A833FBC-0469-D844-BA8D-9B1904F7F1DC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707815" y="4597158"/>
            <a:ext cx="515199" cy="42500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63E906F-2F3B-A818-61D5-1A0BEA7FAB5F}"/>
              </a:ext>
            </a:extLst>
          </p:cNvPr>
          <p:cNvSpPr txBox="1"/>
          <p:nvPr/>
        </p:nvSpPr>
        <p:spPr>
          <a:xfrm>
            <a:off x="814415" y="5467888"/>
            <a:ext cx="75029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separate implementation guide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35DDA96-CD7C-6133-01F0-31BA7E023124}"/>
              </a:ext>
            </a:extLst>
          </p:cNvPr>
          <p:cNvSpPr/>
          <p:nvPr/>
        </p:nvSpPr>
        <p:spPr bwMode="auto">
          <a:xfrm>
            <a:off x="6471073" y="4513208"/>
            <a:ext cx="910712" cy="929216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6290D4-C751-6D03-A863-AFE8B9116A50}"/>
              </a:ext>
            </a:extLst>
          </p:cNvPr>
          <p:cNvSpPr txBox="1"/>
          <p:nvPr/>
        </p:nvSpPr>
        <p:spPr>
          <a:xfrm>
            <a:off x="6628203" y="5182427"/>
            <a:ext cx="640080" cy="274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Encounter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6C209347-FE96-5A3D-C1E0-923C3480CDF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977" y="4605261"/>
            <a:ext cx="609631" cy="60963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97D829CF-92C0-2AD4-C217-0D9575FA9E17}"/>
              </a:ext>
            </a:extLst>
          </p:cNvPr>
          <p:cNvSpPr txBox="1"/>
          <p:nvPr/>
        </p:nvSpPr>
        <p:spPr>
          <a:xfrm>
            <a:off x="4688787" y="2448422"/>
            <a:ext cx="2632987" cy="646331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60325" algn="ctr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+ 10 Optional Sections: Alerts, Advance Directives, Functional Status, Past Problems, Medical Devices, Patient Story, Plan of Care, Social History and Vital Signs</a:t>
            </a:r>
          </a:p>
        </p:txBody>
      </p:sp>
    </p:spTree>
    <p:extLst>
      <p:ext uri="{BB962C8B-B14F-4D97-AF65-F5344CB8AC3E}">
        <p14:creationId xmlns:p14="http://schemas.microsoft.com/office/powerpoint/2010/main" val="1092305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C46FB-22C6-D0A3-5996-E0DA95F2C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C7C68B5F-5710-F402-DDF6-1872CF11B605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9F3E04-444E-4176-A0F6-65877522FA6F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CD2639-5DFF-3BAF-9F90-6CDAB7C60D5D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288EB-AFFB-BC4F-13D9-E4ACF7D3D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BE81991-0106-B1EB-2A89-77F5536E90E2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6FED39-43E9-B4E1-39D0-6CE39DB9DC5A}"/>
              </a:ext>
            </a:extLst>
          </p:cNvPr>
          <p:cNvSpPr txBox="1"/>
          <p:nvPr/>
        </p:nvSpPr>
        <p:spPr>
          <a:xfrm>
            <a:off x="5135067" y="765732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2CB8C7-307B-8125-D9F7-A17102F073E2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ABB8A-EF1A-B52F-7302-B92D2BB84136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3B436F-488B-4147-2F07-AC082890CF72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A3A697-E7AD-86BC-00DA-A0254BDCBBED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0EDF3A7-0432-54AA-ABC2-F8D867B45F44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9E8988F-DE68-C454-CE73-B2B9623C1232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9C150A3-CD4B-2C36-B92E-32664E4267B6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A93C4CF-CF59-CA36-4BFB-FA382C354C0A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CC8489E-BE78-CCA7-0ECC-158CE4467AE4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EFD4498-4871-A26E-E394-7F456281B3A5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56435543-E0B7-1153-C41F-4F678D2CA29C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AAF8DAB-4B64-343F-D759-B40ACDAF741A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A061A9-4EBE-CD72-678A-ABCAFC09C15E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4A61B6-7D43-ECE1-A7CD-7D97BFC5E865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76524D-49C9-6E07-29AE-9C2BFDE5B31E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CBE721-F72E-CF6C-645E-1608A7C6AB98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146C21-C4EC-E6D1-146D-CD0817271720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66E985-5B3A-E36F-76BF-C42806537BF3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B4C931-833E-AD51-B84D-248839F9A0C9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E66702C4-1616-AB45-EB4F-84AA4BAE4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C4625836-1CD0-5A72-30EF-DCE1F74DFD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093C8F13-341A-7203-B98B-98D243B544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F67C267E-C6F5-72DD-1908-433EBAC3D7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C215E95D-B00D-2045-C56B-CE01598440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A86FF2D1-06AF-35EE-3680-D1861D3A0D0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4802D7DB-7378-E5A9-38E0-95A69C9CCD95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B8518EE4-E8DF-96FA-CD6D-6923083E553C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0B933ED0-93F3-B61F-7A4D-1A63496A399B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7DCCCE1-3079-4C55-AAD2-E2FF3053AAB9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BA0334-B443-F79E-67DF-33AF2DDF78F5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8657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subject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Encounters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5483997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7121929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891727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“Must Support”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5483997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7121929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9499CC-BE78-1E7A-88F5-5DDEC1D4834B}"/>
              </a:ext>
            </a:extLst>
          </p:cNvPr>
          <p:cNvSpPr txBox="1"/>
          <p:nvPr/>
        </p:nvSpPr>
        <p:spPr>
          <a:xfrm>
            <a:off x="362272" y="5922150"/>
            <a:ext cx="8419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“Must Support” means systems must be capable to send and receive these sections</a:t>
            </a:r>
          </a:p>
        </p:txBody>
      </p:sp>
      <p:sp>
        <p:nvSpPr>
          <p:cNvPr id="8" name="Forme libre : forme 18">
            <a:extLst>
              <a:ext uri="{FF2B5EF4-FFF2-40B4-BE49-F238E27FC236}">
                <a16:creationId xmlns:a16="http://schemas.microsoft.com/office/drawing/2014/main" id="{72B1E509-5A1B-CDEC-4970-3076FE497037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576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Derives </a:t>
            </a:r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from IPS clinical profiles to US Core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6C45EA6-7E40-6EB5-ABD4-13B9666000F2}"/>
              </a:ext>
            </a:extLst>
          </p:cNvPr>
          <p:cNvSpPr/>
          <p:nvPr/>
        </p:nvSpPr>
        <p:spPr>
          <a:xfrm>
            <a:off x="206505" y="2780928"/>
            <a:ext cx="4158991" cy="3672622"/>
          </a:xfrm>
          <a:prstGeom prst="roundRect">
            <a:avLst>
              <a:gd name="adj" fmla="val 6226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6C2EF-3DB1-9EF8-2696-E6AE6D6E6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450304" y="3701057"/>
            <a:ext cx="839676" cy="922566"/>
          </a:xfrm>
          <a:prstGeom prst="rect">
            <a:avLst/>
          </a:prstGeom>
        </p:spPr>
      </p:pic>
      <p:pic>
        <p:nvPicPr>
          <p:cNvPr id="5" name="Picture 2" descr="logo fhir">
            <a:extLst>
              <a:ext uri="{FF2B5EF4-FFF2-40B4-BE49-F238E27FC236}">
                <a16:creationId xmlns:a16="http://schemas.microsoft.com/office/drawing/2014/main" id="{17ED4006-1704-AC0D-FE69-C8C006E5E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450304" y="3500446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680516-85AC-2877-BCF1-D30FC3832B6D}"/>
              </a:ext>
            </a:extLst>
          </p:cNvPr>
          <p:cNvSpPr txBox="1"/>
          <p:nvPr/>
        </p:nvSpPr>
        <p:spPr>
          <a:xfrm>
            <a:off x="0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goes into a</a:t>
            </a:r>
            <a:br>
              <a:rPr lang="en-US" sz="2400" b="1" dirty="0"/>
            </a:br>
            <a:r>
              <a:rPr lang="en-US" sz="2400" b="1" dirty="0"/>
              <a:t>US-PCS patient summary?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0F6F44-361A-FF12-2270-80FA74827035}"/>
              </a:ext>
            </a:extLst>
          </p:cNvPr>
          <p:cNvSpPr txBox="1"/>
          <p:nvPr/>
        </p:nvSpPr>
        <p:spPr>
          <a:xfrm>
            <a:off x="158635" y="2862913"/>
            <a:ext cx="4185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Summaries Require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86972-71A9-36FF-2D9C-893108288039}"/>
              </a:ext>
            </a:extLst>
          </p:cNvPr>
          <p:cNvSpPr txBox="1"/>
          <p:nvPr/>
        </p:nvSpPr>
        <p:spPr>
          <a:xfrm>
            <a:off x="4571999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capabilities must </a:t>
            </a:r>
            <a:br>
              <a:rPr lang="en-US" sz="2400" b="1" dirty="0"/>
            </a:br>
            <a:r>
              <a:rPr lang="en-US" sz="2400" b="1" dirty="0"/>
              <a:t>US-PCS systems support?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421645-74F6-D240-D3FD-5710A2660E3A}"/>
              </a:ext>
            </a:extLst>
          </p:cNvPr>
          <p:cNvCxnSpPr>
            <a:cxnSpLocks/>
          </p:cNvCxnSpPr>
          <p:nvPr/>
        </p:nvCxnSpPr>
        <p:spPr>
          <a:xfrm>
            <a:off x="4584699" y="1835372"/>
            <a:ext cx="0" cy="5022628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1F5697-C786-0EFC-1BD9-139DC83E7969}"/>
              </a:ext>
            </a:extLst>
          </p:cNvPr>
          <p:cNvSpPr txBox="1"/>
          <p:nvPr/>
        </p:nvSpPr>
        <p:spPr>
          <a:xfrm>
            <a:off x="1485176" y="3314229"/>
            <a:ext cx="27343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Patient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Document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Problems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Allergies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Medications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1120-9C50-AB81-7B83-6BD0BC66F836}"/>
              </a:ext>
            </a:extLst>
          </p:cNvPr>
          <p:cNvSpPr txBox="1"/>
          <p:nvPr/>
        </p:nvSpPr>
        <p:spPr>
          <a:xfrm>
            <a:off x="158635" y="4881718"/>
            <a:ext cx="41854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data may be sent to fulfill the</a:t>
            </a:r>
            <a:br>
              <a:rPr lang="en-US" dirty="0"/>
            </a:br>
            <a:r>
              <a:rPr lang="en-US" dirty="0"/>
              <a:t>use-case of the US-PCS. Summaries </a:t>
            </a:r>
            <a:br>
              <a:rPr lang="en-US" dirty="0"/>
            </a:br>
            <a:r>
              <a:rPr lang="en-US" dirty="0"/>
              <a:t>are </a:t>
            </a:r>
            <a:r>
              <a:rPr lang="en-US" b="1" dirty="0"/>
              <a:t>minimal</a:t>
            </a:r>
            <a:r>
              <a:rPr lang="en-US" dirty="0"/>
              <a:t> and </a:t>
            </a:r>
            <a:r>
              <a:rPr lang="en-US" b="1" dirty="0"/>
              <a:t>non-exhaustive</a:t>
            </a:r>
            <a:r>
              <a:rPr lang="en-US" dirty="0"/>
              <a:t> to support clinical decision-making </a:t>
            </a:r>
            <a:br>
              <a:rPr lang="en-US" dirty="0"/>
            </a:br>
            <a:r>
              <a:rPr lang="en-US" dirty="0"/>
              <a:t>across organizational borders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24B6BA7-5002-B454-4FAA-47549EA44BFD}"/>
              </a:ext>
            </a:extLst>
          </p:cNvPr>
          <p:cNvSpPr/>
          <p:nvPr/>
        </p:nvSpPr>
        <p:spPr>
          <a:xfrm>
            <a:off x="4825298" y="2780928"/>
            <a:ext cx="4112197" cy="3672622"/>
          </a:xfrm>
          <a:prstGeom prst="roundRect">
            <a:avLst>
              <a:gd name="adj" fmla="val 48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3D4DF1-FB70-89A6-D18B-0202C380FC94}"/>
              </a:ext>
            </a:extLst>
          </p:cNvPr>
          <p:cNvSpPr txBox="1"/>
          <p:nvPr/>
        </p:nvSpPr>
        <p:spPr>
          <a:xfrm>
            <a:off x="5688920" y="2862913"/>
            <a:ext cx="2586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u="sng" dirty="0">
                <a:solidFill>
                  <a:schemeClr val="tx2"/>
                </a:solidFill>
              </a:rPr>
              <a:t>Systems Must Support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14D61-942A-01EC-A9F7-C8D0C50C4D75}"/>
              </a:ext>
            </a:extLst>
          </p:cNvPr>
          <p:cNvSpPr txBox="1"/>
          <p:nvPr/>
        </p:nvSpPr>
        <p:spPr>
          <a:xfrm>
            <a:off x="4934274" y="3243349"/>
            <a:ext cx="4011088" cy="3247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US-PCS Bundle &amp; Composition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 Core (6.1.0 or higher)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Patient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Organization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Practitioner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Section Clinical Resources</a:t>
            </a:r>
            <a:br>
              <a:rPr lang="en-US" dirty="0"/>
            </a:br>
            <a:endParaRPr lang="en-US" sz="200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Seven Sections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endParaRPr lang="en-US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The IPS $summary operation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BD516-CDD5-3B12-FEC9-011DBF34E178}"/>
              </a:ext>
            </a:extLst>
          </p:cNvPr>
          <p:cNvSpPr txBox="1"/>
          <p:nvPr/>
        </p:nvSpPr>
        <p:spPr>
          <a:xfrm>
            <a:off x="5204806" y="5139327"/>
            <a:ext cx="1920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4163" indent="-284163">
              <a:buFont typeface="+mj-lt"/>
              <a:buAutoNum type="arabicPeriod"/>
            </a:pPr>
            <a:r>
              <a:rPr lang="en-US" dirty="0"/>
              <a:t>Problems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Allergies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Medications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1696A9-C897-1AE7-F0AA-3B8D5CC1BA05}"/>
              </a:ext>
            </a:extLst>
          </p:cNvPr>
          <p:cNvSpPr txBox="1"/>
          <p:nvPr/>
        </p:nvSpPr>
        <p:spPr>
          <a:xfrm>
            <a:off x="6914304" y="4862328"/>
            <a:ext cx="20231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+mj-lt"/>
              <a:buAutoNum type="arabicPeriod" startAt="4"/>
            </a:pPr>
            <a:r>
              <a:rPr lang="en-US" dirty="0"/>
              <a:t>Encounters</a:t>
            </a:r>
          </a:p>
          <a:p>
            <a:pPr marL="285750" indent="-285750">
              <a:buFont typeface="+mj-lt"/>
              <a:buAutoNum type="arabicPeriod" startAt="4"/>
            </a:pPr>
            <a:r>
              <a:rPr lang="en-US" dirty="0"/>
              <a:t>Immunizations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Procedures 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Results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F76489-AC6A-D4E3-2550-970E38CA02C9}"/>
              </a:ext>
            </a:extLst>
          </p:cNvPr>
          <p:cNvSpPr txBox="1"/>
          <p:nvPr/>
        </p:nvSpPr>
        <p:spPr>
          <a:xfrm>
            <a:off x="493677" y="1194114"/>
            <a:ext cx="237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Business </a:t>
            </a:r>
            <a:b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Principles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8EDF34-AEFD-2B83-B3AA-D12A935EF18D}"/>
              </a:ext>
            </a:extLst>
          </p:cNvPr>
          <p:cNvSpPr txBox="1"/>
          <p:nvPr/>
        </p:nvSpPr>
        <p:spPr>
          <a:xfrm>
            <a:off x="7028375" y="1194114"/>
            <a:ext cx="1416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Technical </a:t>
            </a:r>
            <a:br>
              <a:rPr lang="en-US" i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Capability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59710-C4CA-B6B6-E79D-46BE56C1AE1C}"/>
              </a:ext>
            </a:extLst>
          </p:cNvPr>
          <p:cNvSpPr txBox="1"/>
          <p:nvPr/>
        </p:nvSpPr>
        <p:spPr>
          <a:xfrm>
            <a:off x="2555776" y="43146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The “US-PCS”</a:t>
            </a:r>
            <a:endParaRPr lang="en-US" dirty="0"/>
          </a:p>
        </p:txBody>
      </p:sp>
      <p:sp>
        <p:nvSpPr>
          <p:cNvPr id="29" name="Arrow: Bent 28">
            <a:extLst>
              <a:ext uri="{FF2B5EF4-FFF2-40B4-BE49-F238E27FC236}">
                <a16:creationId xmlns:a16="http://schemas.microsoft.com/office/drawing/2014/main" id="{7169D460-E512-56FB-0D57-9524721F5688}"/>
              </a:ext>
            </a:extLst>
          </p:cNvPr>
          <p:cNvSpPr/>
          <p:nvPr/>
        </p:nvSpPr>
        <p:spPr>
          <a:xfrm rot="5400000">
            <a:off x="6256940" y="835849"/>
            <a:ext cx="1008111" cy="774912"/>
          </a:xfrm>
          <a:prstGeom prst="ben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Bent 29">
            <a:extLst>
              <a:ext uri="{FF2B5EF4-FFF2-40B4-BE49-F238E27FC236}">
                <a16:creationId xmlns:a16="http://schemas.microsoft.com/office/drawing/2014/main" id="{E7A9F9D2-6155-7BB1-A393-1A01AD09292E}"/>
              </a:ext>
            </a:extLst>
          </p:cNvPr>
          <p:cNvSpPr/>
          <p:nvPr/>
        </p:nvSpPr>
        <p:spPr>
          <a:xfrm rot="5400000" flipV="1">
            <a:off x="1584003" y="846187"/>
            <a:ext cx="1008111" cy="754236"/>
          </a:xfrm>
          <a:prstGeom prst="bentArrow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66716741-6FE0-11F8-A485-D21578EF6864}"/>
              </a:ext>
            </a:extLst>
          </p:cNvPr>
          <p:cNvSpPr/>
          <p:nvPr/>
        </p:nvSpPr>
        <p:spPr>
          <a:xfrm>
            <a:off x="8045463" y="4225524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29431E6E-6E1A-56A0-B20F-F053AB101DDA}"/>
              </a:ext>
            </a:extLst>
          </p:cNvPr>
          <p:cNvSpPr/>
          <p:nvPr/>
        </p:nvSpPr>
        <p:spPr>
          <a:xfrm>
            <a:off x="8045463" y="4006077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B2FD8B3C-3107-A405-6865-9B770FD85B51}"/>
              </a:ext>
            </a:extLst>
          </p:cNvPr>
          <p:cNvSpPr/>
          <p:nvPr/>
        </p:nvSpPr>
        <p:spPr>
          <a:xfrm>
            <a:off x="8045463" y="3786629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8" name="Picture 2" descr="logo fhir">
            <a:extLst>
              <a:ext uri="{FF2B5EF4-FFF2-40B4-BE49-F238E27FC236}">
                <a16:creationId xmlns:a16="http://schemas.microsoft.com/office/drawing/2014/main" id="{3148ACF8-DD03-E429-47DC-74E3125CB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8534139" y="3493358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4893193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63449</TotalTime>
  <Words>426</Words>
  <Application>Microsoft Office PowerPoint</Application>
  <PresentationFormat>On-screen Show (4:3)</PresentationFormat>
  <Paragraphs>134</Paragraphs>
  <Slides>8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PowerPoint Presentation</vt:lpstr>
      <vt:lpstr>PowerPoint Presentation</vt:lpstr>
      <vt:lpstr>PowerPoint Presentation</vt:lpstr>
      <vt:lpstr>The IPS Composition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2013</cp:revision>
  <dcterms:created xsi:type="dcterms:W3CDTF">2012-12-03T20:41:34Z</dcterms:created>
  <dcterms:modified xsi:type="dcterms:W3CDTF">2026-03-20T02:30:35Z</dcterms:modified>
</cp:coreProperties>
</file>